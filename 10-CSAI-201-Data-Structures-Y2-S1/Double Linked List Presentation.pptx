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DM Sans" charset="1" panose="00000000000000000000"/>
      <p:regular r:id="rId10"/>
    </p:embeddedFont>
    <p:embeddedFont>
      <p:font typeface="DM Sans Bold" charset="1" panose="00000000000000000000"/>
      <p:regular r:id="rId11"/>
    </p:embeddedFont>
    <p:embeddedFont>
      <p:font typeface="DM Sans Italics" charset="1" panose="00000000000000000000"/>
      <p:regular r:id="rId12"/>
    </p:embeddedFont>
    <p:embeddedFont>
      <p:font typeface="DM Sans Bold Italics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slides/slide1.xml" Type="http://schemas.openxmlformats.org/officeDocument/2006/relationships/slide"/><Relationship Id="rId15" Target="slides/slide2.xml" Type="http://schemas.openxmlformats.org/officeDocument/2006/relationships/slide"/><Relationship Id="rId16" Target="slides/slide3.xml" Type="http://schemas.openxmlformats.org/officeDocument/2006/relationships/slide"/><Relationship Id="rId17" Target="slides/slide4.xml" Type="http://schemas.openxmlformats.org/officeDocument/2006/relationships/slide"/><Relationship Id="rId18" Target="slides/slide5.xml" Type="http://schemas.openxmlformats.org/officeDocument/2006/relationships/slide"/><Relationship Id="rId19" Target="slides/slide6.xml" Type="http://schemas.openxmlformats.org/officeDocument/2006/relationships/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75193" y="7120088"/>
            <a:ext cx="9698129" cy="1116992"/>
            <a:chOff x="0" y="0"/>
            <a:chExt cx="2027337" cy="233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7337" cy="233501"/>
            </a:xfrm>
            <a:custGeom>
              <a:avLst/>
              <a:gdLst/>
              <a:ahLst/>
              <a:cxnLst/>
              <a:rect r="r" b="b" t="t" l="l"/>
              <a:pathLst>
                <a:path h="233501" w="2027337">
                  <a:moveTo>
                    <a:pt x="75039" y="0"/>
                  </a:moveTo>
                  <a:lnTo>
                    <a:pt x="1952298" y="0"/>
                  </a:lnTo>
                  <a:cubicBezTo>
                    <a:pt x="1972199" y="0"/>
                    <a:pt x="1991286" y="7906"/>
                    <a:pt x="2005358" y="21978"/>
                  </a:cubicBezTo>
                  <a:cubicBezTo>
                    <a:pt x="2019431" y="36051"/>
                    <a:pt x="2027337" y="55138"/>
                    <a:pt x="2027337" y="75039"/>
                  </a:cubicBezTo>
                  <a:lnTo>
                    <a:pt x="2027337" y="158461"/>
                  </a:lnTo>
                  <a:cubicBezTo>
                    <a:pt x="2027337" y="178363"/>
                    <a:pt x="2019431" y="197450"/>
                    <a:pt x="2005358" y="211522"/>
                  </a:cubicBezTo>
                  <a:cubicBezTo>
                    <a:pt x="1991286" y="225595"/>
                    <a:pt x="1972199" y="233501"/>
                    <a:pt x="1952298" y="233501"/>
                  </a:cubicBezTo>
                  <a:lnTo>
                    <a:pt x="75039" y="233501"/>
                  </a:lnTo>
                  <a:cubicBezTo>
                    <a:pt x="55138" y="233501"/>
                    <a:pt x="36051" y="225595"/>
                    <a:pt x="21978" y="211522"/>
                  </a:cubicBezTo>
                  <a:cubicBezTo>
                    <a:pt x="7906" y="197450"/>
                    <a:pt x="0" y="178363"/>
                    <a:pt x="0" y="158461"/>
                  </a:cubicBezTo>
                  <a:lnTo>
                    <a:pt x="0" y="75039"/>
                  </a:lnTo>
                  <a:cubicBezTo>
                    <a:pt x="0" y="55138"/>
                    <a:pt x="7906" y="36051"/>
                    <a:pt x="21978" y="21978"/>
                  </a:cubicBezTo>
                  <a:cubicBezTo>
                    <a:pt x="36051" y="7906"/>
                    <a:pt x="55138" y="0"/>
                    <a:pt x="75039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27337" cy="290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FFFFFF"/>
                  </a:solidFill>
                  <a:latin typeface="DM Sans Bold"/>
                </a:rPr>
                <a:t>Understanding, Implementing, and Utilizing Linked Lists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64229" y="2340975"/>
            <a:ext cx="10709094" cy="173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5"/>
              </a:lnSpc>
            </a:pPr>
            <a:r>
              <a:rPr lang="en-US" sz="10117">
                <a:solidFill>
                  <a:srgbClr val="000000"/>
                </a:solidFill>
                <a:latin typeface="DM Sans Bold"/>
              </a:rPr>
              <a:t>Double linked list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217064" y="3105761"/>
            <a:ext cx="5229066" cy="11412644"/>
          </a:xfrm>
          <a:custGeom>
            <a:avLst/>
            <a:gdLst/>
            <a:ahLst/>
            <a:cxnLst/>
            <a:rect r="r" b="b" t="t" l="l"/>
            <a:pathLst>
              <a:path h="11412644" w="5229066">
                <a:moveTo>
                  <a:pt x="0" y="0"/>
                </a:moveTo>
                <a:lnTo>
                  <a:pt x="5229066" y="0"/>
                </a:lnTo>
                <a:lnTo>
                  <a:pt x="5229066" y="11412644"/>
                </a:lnTo>
                <a:lnTo>
                  <a:pt x="0" y="11412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1213" y="3302457"/>
            <a:ext cx="4716622" cy="13168235"/>
          </a:xfrm>
          <a:custGeom>
            <a:avLst/>
            <a:gdLst/>
            <a:ahLst/>
            <a:cxnLst/>
            <a:rect r="r" b="b" t="t" l="l"/>
            <a:pathLst>
              <a:path h="13168235" w="4716622">
                <a:moveTo>
                  <a:pt x="0" y="0"/>
                </a:moveTo>
                <a:lnTo>
                  <a:pt x="4716623" y="0"/>
                </a:lnTo>
                <a:lnTo>
                  <a:pt x="4716623" y="13168235"/>
                </a:lnTo>
                <a:lnTo>
                  <a:pt x="0" y="13168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71550"/>
            <a:ext cx="529844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DM Sans Bold"/>
              </a:rPr>
              <a:t>ABDULRAHMAN_OMAR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0957043" y="2452209"/>
            <a:ext cx="6302257" cy="888902"/>
            <a:chOff x="0" y="0"/>
            <a:chExt cx="15442228" cy="2178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42228" cy="2178050"/>
            </a:xfrm>
            <a:custGeom>
              <a:avLst/>
              <a:gdLst/>
              <a:ahLst/>
              <a:cxnLst/>
              <a:rect r="r" b="b" t="t" l="l"/>
              <a:pathLst>
                <a:path h="2178050" w="15442228">
                  <a:moveTo>
                    <a:pt x="15442228" y="0"/>
                  </a:moveTo>
                  <a:lnTo>
                    <a:pt x="1544222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5442228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75766" y="2452209"/>
            <a:ext cx="894658" cy="888902"/>
            <a:chOff x="0" y="0"/>
            <a:chExt cx="735568" cy="7308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5568" cy="730836"/>
            </a:xfrm>
            <a:custGeom>
              <a:avLst/>
              <a:gdLst/>
              <a:ahLst/>
              <a:cxnLst/>
              <a:rect r="r" b="b" t="t" l="l"/>
              <a:pathLst>
                <a:path h="730836" w="735568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DM Sans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0957043" y="3860788"/>
            <a:ext cx="6302257" cy="888902"/>
            <a:chOff x="0" y="0"/>
            <a:chExt cx="15442228" cy="2178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42228" cy="2178050"/>
            </a:xfrm>
            <a:custGeom>
              <a:avLst/>
              <a:gdLst/>
              <a:ahLst/>
              <a:cxnLst/>
              <a:rect r="r" b="b" t="t" l="l"/>
              <a:pathLst>
                <a:path h="2178050" w="15442228">
                  <a:moveTo>
                    <a:pt x="15442228" y="0"/>
                  </a:moveTo>
                  <a:lnTo>
                    <a:pt x="1544222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5442228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75766" y="3860788"/>
            <a:ext cx="894658" cy="888902"/>
            <a:chOff x="0" y="0"/>
            <a:chExt cx="735568" cy="7308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5568" cy="730836"/>
            </a:xfrm>
            <a:custGeom>
              <a:avLst/>
              <a:gdLst/>
              <a:ahLst/>
              <a:cxnLst/>
              <a:rect r="r" b="b" t="t" l="l"/>
              <a:pathLst>
                <a:path h="730836" w="735568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DM Sans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10957043" y="5273565"/>
            <a:ext cx="6302257" cy="888902"/>
            <a:chOff x="0" y="0"/>
            <a:chExt cx="15442228" cy="2178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42228" cy="2178050"/>
            </a:xfrm>
            <a:custGeom>
              <a:avLst/>
              <a:gdLst/>
              <a:ahLst/>
              <a:cxnLst/>
              <a:rect r="r" b="b" t="t" l="l"/>
              <a:pathLst>
                <a:path h="2178050" w="15442228">
                  <a:moveTo>
                    <a:pt x="15442228" y="0"/>
                  </a:moveTo>
                  <a:lnTo>
                    <a:pt x="1544222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5442228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75766" y="5273565"/>
            <a:ext cx="894658" cy="888902"/>
            <a:chOff x="0" y="0"/>
            <a:chExt cx="735568" cy="730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5568" cy="730836"/>
            </a:xfrm>
            <a:custGeom>
              <a:avLst/>
              <a:gdLst/>
              <a:ahLst/>
              <a:cxnLst/>
              <a:rect r="r" b="b" t="t" l="l"/>
              <a:pathLst>
                <a:path h="730836" w="735568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DM Sans Bold"/>
                </a:rPr>
                <a:t>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0957043" y="6686342"/>
            <a:ext cx="7107661" cy="1002501"/>
            <a:chOff x="0" y="0"/>
            <a:chExt cx="15442228" cy="2178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42228" cy="2178050"/>
            </a:xfrm>
            <a:custGeom>
              <a:avLst/>
              <a:gdLst/>
              <a:ahLst/>
              <a:cxnLst/>
              <a:rect r="r" b="b" t="t" l="l"/>
              <a:pathLst>
                <a:path h="2178050" w="15442228">
                  <a:moveTo>
                    <a:pt x="15442228" y="0"/>
                  </a:moveTo>
                  <a:lnTo>
                    <a:pt x="1544222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5442228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575766" y="6686342"/>
            <a:ext cx="894658" cy="888902"/>
            <a:chOff x="0" y="0"/>
            <a:chExt cx="735568" cy="7308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5568" cy="730836"/>
            </a:xfrm>
            <a:custGeom>
              <a:avLst/>
              <a:gdLst/>
              <a:ahLst/>
              <a:cxnLst/>
              <a:rect r="r" b="b" t="t" l="l"/>
              <a:pathLst>
                <a:path h="730836" w="735568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DM Sans Bold"/>
                </a:rPr>
                <a:t>4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965231" y="2556655"/>
            <a:ext cx="451504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</a:rPr>
              <a:t>what is linked list?</a:t>
            </a:r>
            <a:r>
              <a:rPr lang="en-US" sz="3200">
                <a:solidFill>
                  <a:srgbClr val="000000"/>
                </a:solidFill>
                <a:latin typeface="DM Sans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65231" y="3965234"/>
            <a:ext cx="451504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</a:rPr>
              <a:t>kinds of linked list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231" y="5378011"/>
            <a:ext cx="451504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ans"/>
              </a:rPr>
              <a:t>double linked list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59313" y="6619667"/>
            <a:ext cx="5703122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DM Sans"/>
              </a:rPr>
              <a:t>Operations on Double Linked Lists</a:t>
            </a:r>
          </a:p>
          <a:p>
            <a:pPr algn="l" marL="0" indent="0" lvl="1">
              <a:lnSpc>
                <a:spcPts val="4480"/>
              </a:lnSpc>
              <a:spcBef>
                <a:spcPct val="0"/>
              </a:spcBef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2452209"/>
            <a:ext cx="5833418" cy="1326542"/>
            <a:chOff x="0" y="0"/>
            <a:chExt cx="1219442" cy="2773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9442" cy="277306"/>
            </a:xfrm>
            <a:custGeom>
              <a:avLst/>
              <a:gdLst/>
              <a:ahLst/>
              <a:cxnLst/>
              <a:rect r="r" b="b" t="t" l="l"/>
              <a:pathLst>
                <a:path h="277306" w="1219442">
                  <a:moveTo>
                    <a:pt x="124754" y="0"/>
                  </a:moveTo>
                  <a:lnTo>
                    <a:pt x="1094688" y="0"/>
                  </a:lnTo>
                  <a:cubicBezTo>
                    <a:pt x="1127775" y="0"/>
                    <a:pt x="1159506" y="13144"/>
                    <a:pt x="1182902" y="36540"/>
                  </a:cubicBezTo>
                  <a:cubicBezTo>
                    <a:pt x="1206298" y="59935"/>
                    <a:pt x="1219442" y="91667"/>
                    <a:pt x="1219442" y="124754"/>
                  </a:cubicBezTo>
                  <a:lnTo>
                    <a:pt x="1219442" y="152552"/>
                  </a:lnTo>
                  <a:cubicBezTo>
                    <a:pt x="1219442" y="185639"/>
                    <a:pt x="1206298" y="217370"/>
                    <a:pt x="1182902" y="240766"/>
                  </a:cubicBezTo>
                  <a:cubicBezTo>
                    <a:pt x="1159506" y="264162"/>
                    <a:pt x="1127775" y="277306"/>
                    <a:pt x="1094688" y="277306"/>
                  </a:cubicBezTo>
                  <a:lnTo>
                    <a:pt x="124754" y="277306"/>
                  </a:lnTo>
                  <a:cubicBezTo>
                    <a:pt x="91667" y="277306"/>
                    <a:pt x="59935" y="264162"/>
                    <a:pt x="36540" y="240766"/>
                  </a:cubicBezTo>
                  <a:cubicBezTo>
                    <a:pt x="13144" y="217370"/>
                    <a:pt x="0" y="185639"/>
                    <a:pt x="0" y="152552"/>
                  </a:cubicBezTo>
                  <a:lnTo>
                    <a:pt x="0" y="124754"/>
                  </a:lnTo>
                  <a:cubicBezTo>
                    <a:pt x="0" y="91667"/>
                    <a:pt x="13144" y="59935"/>
                    <a:pt x="36540" y="36540"/>
                  </a:cubicBezTo>
                  <a:cubicBezTo>
                    <a:pt x="59935" y="13144"/>
                    <a:pt x="91667" y="0"/>
                    <a:pt x="124754" y="0"/>
                  </a:cubicBezTo>
                  <a:close/>
                </a:path>
              </a:pathLst>
            </a:custGeom>
            <a:solidFill>
              <a:srgbClr val="FFB00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1219442" cy="40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Agenda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10957043" y="8212718"/>
            <a:ext cx="6302257" cy="888902"/>
            <a:chOff x="0" y="0"/>
            <a:chExt cx="15442228" cy="2178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442228" cy="2178050"/>
            </a:xfrm>
            <a:custGeom>
              <a:avLst/>
              <a:gdLst/>
              <a:ahLst/>
              <a:cxnLst/>
              <a:rect r="r" b="b" t="t" l="l"/>
              <a:pathLst>
                <a:path h="2178050" w="15442228">
                  <a:moveTo>
                    <a:pt x="15442228" y="0"/>
                  </a:moveTo>
                  <a:lnTo>
                    <a:pt x="15442228" y="2178050"/>
                  </a:lnTo>
                  <a:lnTo>
                    <a:pt x="1088390" y="2178050"/>
                  </a:lnTo>
                  <a:cubicBezTo>
                    <a:pt x="487680" y="2178050"/>
                    <a:pt x="0" y="1690370"/>
                    <a:pt x="0" y="1088390"/>
                  </a:cubicBezTo>
                  <a:cubicBezTo>
                    <a:pt x="0" y="487680"/>
                    <a:pt x="487680" y="0"/>
                    <a:pt x="1088390" y="0"/>
                  </a:cubicBezTo>
                  <a:lnTo>
                    <a:pt x="15442228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575766" y="8212718"/>
            <a:ext cx="894658" cy="888902"/>
            <a:chOff x="0" y="0"/>
            <a:chExt cx="735568" cy="7308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5568" cy="730836"/>
            </a:xfrm>
            <a:custGeom>
              <a:avLst/>
              <a:gdLst/>
              <a:ahLst/>
              <a:cxnLst/>
              <a:rect r="r" b="b" t="t" l="l"/>
              <a:pathLst>
                <a:path h="730836" w="735568">
                  <a:moveTo>
                    <a:pt x="367784" y="0"/>
                  </a:moveTo>
                  <a:cubicBezTo>
                    <a:pt x="164663" y="0"/>
                    <a:pt x="0" y="163603"/>
                    <a:pt x="0" y="365418"/>
                  </a:cubicBezTo>
                  <a:cubicBezTo>
                    <a:pt x="0" y="567233"/>
                    <a:pt x="164663" y="730836"/>
                    <a:pt x="367784" y="730836"/>
                  </a:cubicBezTo>
                  <a:cubicBezTo>
                    <a:pt x="570906" y="730836"/>
                    <a:pt x="735568" y="567233"/>
                    <a:pt x="735568" y="365418"/>
                  </a:cubicBezTo>
                  <a:cubicBezTo>
                    <a:pt x="735568" y="163603"/>
                    <a:pt x="570906" y="0"/>
                    <a:pt x="367784" y="0"/>
                  </a:cubicBezTo>
                  <a:close/>
                </a:path>
              </a:pathLst>
            </a:custGeom>
            <a:solidFill>
              <a:srgbClr val="35A1F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68960" y="125666"/>
              <a:ext cx="597649" cy="536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2799" spc="-55">
                  <a:solidFill>
                    <a:srgbClr val="FFFFFF"/>
                  </a:solidFill>
                  <a:latin typeface="DM Sans Bold"/>
                </a:rPr>
                <a:t>5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965231" y="8317163"/>
            <a:ext cx="4515042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u="sng">
                <a:solidFill>
                  <a:srgbClr val="000000"/>
                </a:solidFill>
                <a:latin typeface="DM Sans"/>
              </a:rPr>
              <a:t>Code Example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4261" y="872706"/>
            <a:ext cx="16120446" cy="1326542"/>
            <a:chOff x="0" y="0"/>
            <a:chExt cx="3369884" cy="277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69884" cy="277306"/>
            </a:xfrm>
            <a:custGeom>
              <a:avLst/>
              <a:gdLst/>
              <a:ahLst/>
              <a:cxnLst/>
              <a:rect r="r" b="b" t="t" l="l"/>
              <a:pathLst>
                <a:path h="277306" w="3369884">
                  <a:moveTo>
                    <a:pt x="45144" y="0"/>
                  </a:moveTo>
                  <a:lnTo>
                    <a:pt x="3324740" y="0"/>
                  </a:lnTo>
                  <a:cubicBezTo>
                    <a:pt x="3349673" y="0"/>
                    <a:pt x="3369884" y="20212"/>
                    <a:pt x="3369884" y="45144"/>
                  </a:cubicBezTo>
                  <a:lnTo>
                    <a:pt x="3369884" y="232162"/>
                  </a:lnTo>
                  <a:cubicBezTo>
                    <a:pt x="3369884" y="244135"/>
                    <a:pt x="3365128" y="255617"/>
                    <a:pt x="3356662" y="264083"/>
                  </a:cubicBezTo>
                  <a:cubicBezTo>
                    <a:pt x="3348196" y="272550"/>
                    <a:pt x="3336713" y="277306"/>
                    <a:pt x="3324740" y="277306"/>
                  </a:cubicBezTo>
                  <a:lnTo>
                    <a:pt x="45144" y="277306"/>
                  </a:lnTo>
                  <a:cubicBezTo>
                    <a:pt x="33171" y="277306"/>
                    <a:pt x="21688" y="272550"/>
                    <a:pt x="13222" y="264083"/>
                  </a:cubicBezTo>
                  <a:cubicBezTo>
                    <a:pt x="4756" y="255617"/>
                    <a:pt x="0" y="244135"/>
                    <a:pt x="0" y="232162"/>
                  </a:cubicBezTo>
                  <a:lnTo>
                    <a:pt x="0" y="45144"/>
                  </a:lnTo>
                  <a:cubicBezTo>
                    <a:pt x="0" y="33171"/>
                    <a:pt x="4756" y="21688"/>
                    <a:pt x="13222" y="13222"/>
                  </a:cubicBezTo>
                  <a:cubicBezTo>
                    <a:pt x="21688" y="4756"/>
                    <a:pt x="33171" y="0"/>
                    <a:pt x="45144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369884" cy="40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What is linked list?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60284" y="2752518"/>
            <a:ext cx="13738016" cy="534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594"/>
              </a:lnSpc>
            </a:pPr>
            <a:r>
              <a:rPr lang="en-US" sz="6139">
                <a:solidFill>
                  <a:srgbClr val="000000"/>
                </a:solidFill>
                <a:latin typeface="DM Sans"/>
              </a:rPr>
              <a:t>A linked list is a linear data structure. It consists of a sequence of nodes, where each node contains a piece of data and a pointer to the next node in the sequence.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9258300"/>
            <a:ext cx="3445587" cy="268493"/>
            <a:chOff x="0" y="0"/>
            <a:chExt cx="4594116" cy="357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65535"/>
              <a:ext cx="480026" cy="226922"/>
            </a:xfrm>
            <a:custGeom>
              <a:avLst/>
              <a:gdLst/>
              <a:ahLst/>
              <a:cxnLst/>
              <a:rect r="r" b="b" t="t" l="l"/>
              <a:pathLst>
                <a:path h="226922" w="480026">
                  <a:moveTo>
                    <a:pt x="0" y="0"/>
                  </a:moveTo>
                  <a:lnTo>
                    <a:pt x="480026" y="0"/>
                  </a:lnTo>
                  <a:lnTo>
                    <a:pt x="480026" y="226921"/>
                  </a:lnTo>
                  <a:lnTo>
                    <a:pt x="0" y="226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23900" y="-38100"/>
              <a:ext cx="3870216" cy="396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 u="sng">
                  <a:solidFill>
                    <a:srgbClr val="F4592F"/>
                  </a:solidFill>
                  <a:latin typeface="DM Sans Bold"/>
                </a:rPr>
                <a:t>BACK TO AGENDA PAGE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424707" y="2653512"/>
            <a:ext cx="943897" cy="837494"/>
          </a:xfrm>
          <a:custGeom>
            <a:avLst/>
            <a:gdLst/>
            <a:ahLst/>
            <a:cxnLst/>
            <a:rect r="r" b="b" t="t" l="l"/>
            <a:pathLst>
              <a:path h="837494" w="943897">
                <a:moveTo>
                  <a:pt x="0" y="0"/>
                </a:moveTo>
                <a:lnTo>
                  <a:pt x="943897" y="0"/>
                </a:lnTo>
                <a:lnTo>
                  <a:pt x="943897" y="837494"/>
                </a:lnTo>
                <a:lnTo>
                  <a:pt x="0" y="837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60284" y="8101695"/>
            <a:ext cx="1071395" cy="1038279"/>
          </a:xfrm>
          <a:custGeom>
            <a:avLst/>
            <a:gdLst/>
            <a:ahLst/>
            <a:cxnLst/>
            <a:rect r="r" b="b" t="t" l="l"/>
            <a:pathLst>
              <a:path h="1038279" w="1071395">
                <a:moveTo>
                  <a:pt x="0" y="0"/>
                </a:moveTo>
                <a:lnTo>
                  <a:pt x="1071395" y="0"/>
                </a:lnTo>
                <a:lnTo>
                  <a:pt x="1071395" y="1038279"/>
                </a:lnTo>
                <a:lnTo>
                  <a:pt x="0" y="10382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8099" y="0"/>
            <a:ext cx="12463308" cy="1326542"/>
            <a:chOff x="0" y="0"/>
            <a:chExt cx="2605381" cy="277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381" cy="277306"/>
            </a:xfrm>
            <a:custGeom>
              <a:avLst/>
              <a:gdLst/>
              <a:ahLst/>
              <a:cxnLst/>
              <a:rect r="r" b="b" t="t" l="l"/>
              <a:pathLst>
                <a:path h="277306" w="2605381">
                  <a:moveTo>
                    <a:pt x="58391" y="0"/>
                  </a:moveTo>
                  <a:lnTo>
                    <a:pt x="2546990" y="0"/>
                  </a:lnTo>
                  <a:cubicBezTo>
                    <a:pt x="2562477" y="0"/>
                    <a:pt x="2577329" y="6152"/>
                    <a:pt x="2588279" y="17102"/>
                  </a:cubicBezTo>
                  <a:cubicBezTo>
                    <a:pt x="2599229" y="28053"/>
                    <a:pt x="2605381" y="42904"/>
                    <a:pt x="2605381" y="58391"/>
                  </a:cubicBezTo>
                  <a:lnTo>
                    <a:pt x="2605381" y="218915"/>
                  </a:lnTo>
                  <a:cubicBezTo>
                    <a:pt x="2605381" y="251163"/>
                    <a:pt x="2579239" y="277306"/>
                    <a:pt x="2546990" y="277306"/>
                  </a:cubicBezTo>
                  <a:lnTo>
                    <a:pt x="58391" y="277306"/>
                  </a:lnTo>
                  <a:cubicBezTo>
                    <a:pt x="26142" y="277306"/>
                    <a:pt x="0" y="251163"/>
                    <a:pt x="0" y="218915"/>
                  </a:cubicBezTo>
                  <a:lnTo>
                    <a:pt x="0" y="58391"/>
                  </a:lnTo>
                  <a:cubicBezTo>
                    <a:pt x="0" y="26142"/>
                    <a:pt x="26142" y="0"/>
                    <a:pt x="58391" y="0"/>
                  </a:cubicBezTo>
                  <a:close/>
                </a:path>
              </a:pathLst>
            </a:custGeom>
            <a:solidFill>
              <a:srgbClr val="8E77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605381" cy="40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Types of Linked Lists: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9258300"/>
            <a:ext cx="3445587" cy="268493"/>
            <a:chOff x="0" y="0"/>
            <a:chExt cx="4594116" cy="357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65535"/>
              <a:ext cx="480026" cy="226922"/>
            </a:xfrm>
            <a:custGeom>
              <a:avLst/>
              <a:gdLst/>
              <a:ahLst/>
              <a:cxnLst/>
              <a:rect r="r" b="b" t="t" l="l"/>
              <a:pathLst>
                <a:path h="226922" w="480026">
                  <a:moveTo>
                    <a:pt x="0" y="0"/>
                  </a:moveTo>
                  <a:lnTo>
                    <a:pt x="480026" y="0"/>
                  </a:lnTo>
                  <a:lnTo>
                    <a:pt x="480026" y="226921"/>
                  </a:lnTo>
                  <a:lnTo>
                    <a:pt x="0" y="226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23900" y="-38100"/>
              <a:ext cx="3870216" cy="396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2520"/>
                </a:lnSpc>
              </a:pPr>
              <a:r>
                <a:rPr lang="en-US" sz="1800" u="sng">
                  <a:solidFill>
                    <a:srgbClr val="8E77F8"/>
                  </a:solidFill>
                  <a:latin typeface="DM Sans Bold"/>
                </a:rPr>
                <a:t>BACK TO AGENDA PAGE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460366" y="5416830"/>
            <a:ext cx="3799678" cy="2846305"/>
          </a:xfrm>
          <a:custGeom>
            <a:avLst/>
            <a:gdLst/>
            <a:ahLst/>
            <a:cxnLst/>
            <a:rect r="r" b="b" t="t" l="l"/>
            <a:pathLst>
              <a:path h="2846305" w="3799678">
                <a:moveTo>
                  <a:pt x="3799679" y="0"/>
                </a:moveTo>
                <a:lnTo>
                  <a:pt x="0" y="0"/>
                </a:lnTo>
                <a:lnTo>
                  <a:pt x="0" y="2846305"/>
                </a:lnTo>
                <a:lnTo>
                  <a:pt x="3799679" y="2846305"/>
                </a:lnTo>
                <a:lnTo>
                  <a:pt x="379967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0045" y="5143500"/>
            <a:ext cx="10388744" cy="4861350"/>
          </a:xfrm>
          <a:custGeom>
            <a:avLst/>
            <a:gdLst/>
            <a:ahLst/>
            <a:cxnLst/>
            <a:rect r="r" b="b" t="t" l="l"/>
            <a:pathLst>
              <a:path h="4861350" w="10388744">
                <a:moveTo>
                  <a:pt x="0" y="0"/>
                </a:moveTo>
                <a:lnTo>
                  <a:pt x="10388744" y="0"/>
                </a:lnTo>
                <a:lnTo>
                  <a:pt x="10388744" y="4861350"/>
                </a:lnTo>
                <a:lnTo>
                  <a:pt x="0" y="4861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60366" y="1977762"/>
            <a:ext cx="16798934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</a:rPr>
              <a:t>Si</a:t>
            </a:r>
            <a:r>
              <a:rPr lang="en-US" sz="3600" u="none">
                <a:solidFill>
                  <a:srgbClr val="000000"/>
                </a:solidFill>
                <a:latin typeface="DM Sans"/>
              </a:rPr>
              <a:t>ngly Linked List: Each node points only to the next node in the sequence.</a:t>
            </a:r>
          </a:p>
          <a:p>
            <a:pPr algn="ctr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u="none">
                <a:solidFill>
                  <a:srgbClr val="000000"/>
                </a:solidFill>
                <a:latin typeface="DM Sans"/>
              </a:rPr>
              <a:t>Doubly Linked List: Each node has pointers to both the next and the previous nodes, enabling bidirectional traversal.</a:t>
            </a:r>
          </a:p>
          <a:p>
            <a:pPr algn="ctr" marL="777240" indent="-388620" lvl="1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u="none">
                <a:solidFill>
                  <a:srgbClr val="000000"/>
                </a:solidFill>
                <a:latin typeface="DM Sans"/>
              </a:rPr>
              <a:t>Circular Linked List: The last node's pointer points back to the first node, forming a circular structure.</a:t>
            </a:r>
          </a:p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141407" y="5076825"/>
            <a:ext cx="3020839" cy="61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spc="179">
                <a:solidFill>
                  <a:srgbClr val="8E77F8"/>
                </a:solidFill>
                <a:latin typeface="DM Sans Bold"/>
              </a:rPr>
              <a:t>LET'S BEGIN!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187905" y="509561"/>
            <a:ext cx="1071395" cy="1038279"/>
          </a:xfrm>
          <a:custGeom>
            <a:avLst/>
            <a:gdLst/>
            <a:ahLst/>
            <a:cxnLst/>
            <a:rect r="r" b="b" t="t" l="l"/>
            <a:pathLst>
              <a:path h="1038279" w="1071395">
                <a:moveTo>
                  <a:pt x="0" y="0"/>
                </a:moveTo>
                <a:lnTo>
                  <a:pt x="1071395" y="0"/>
                </a:lnTo>
                <a:lnTo>
                  <a:pt x="1071395" y="1038278"/>
                </a:lnTo>
                <a:lnTo>
                  <a:pt x="0" y="10382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146" y="596433"/>
            <a:ext cx="15627828" cy="1326542"/>
            <a:chOff x="0" y="0"/>
            <a:chExt cx="3266905" cy="2773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6905" cy="277306"/>
            </a:xfrm>
            <a:custGeom>
              <a:avLst/>
              <a:gdLst/>
              <a:ahLst/>
              <a:cxnLst/>
              <a:rect r="r" b="b" t="t" l="l"/>
              <a:pathLst>
                <a:path h="277306" w="3266905">
                  <a:moveTo>
                    <a:pt x="46567" y="0"/>
                  </a:moveTo>
                  <a:lnTo>
                    <a:pt x="3220338" y="0"/>
                  </a:lnTo>
                  <a:cubicBezTo>
                    <a:pt x="3246057" y="0"/>
                    <a:pt x="3266905" y="20849"/>
                    <a:pt x="3266905" y="46567"/>
                  </a:cubicBezTo>
                  <a:lnTo>
                    <a:pt x="3266905" y="230739"/>
                  </a:lnTo>
                  <a:cubicBezTo>
                    <a:pt x="3266905" y="256457"/>
                    <a:pt x="3246057" y="277306"/>
                    <a:pt x="3220338" y="277306"/>
                  </a:cubicBezTo>
                  <a:lnTo>
                    <a:pt x="46567" y="277306"/>
                  </a:lnTo>
                  <a:cubicBezTo>
                    <a:pt x="20849" y="277306"/>
                    <a:pt x="0" y="256457"/>
                    <a:pt x="0" y="230739"/>
                  </a:cubicBezTo>
                  <a:lnTo>
                    <a:pt x="0" y="46567"/>
                  </a:lnTo>
                  <a:cubicBezTo>
                    <a:pt x="0" y="20849"/>
                    <a:pt x="20849" y="0"/>
                    <a:pt x="46567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266905" cy="40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double linked list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3961" y="5711576"/>
            <a:ext cx="15614703" cy="3583702"/>
          </a:xfrm>
          <a:custGeom>
            <a:avLst/>
            <a:gdLst/>
            <a:ahLst/>
            <a:cxnLst/>
            <a:rect r="r" b="b" t="t" l="l"/>
            <a:pathLst>
              <a:path h="3583702" w="15614703">
                <a:moveTo>
                  <a:pt x="0" y="0"/>
                </a:moveTo>
                <a:lnTo>
                  <a:pt x="15614703" y="0"/>
                </a:lnTo>
                <a:lnTo>
                  <a:pt x="15614703" y="3583702"/>
                </a:lnTo>
                <a:lnTo>
                  <a:pt x="0" y="358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43961" y="2462160"/>
            <a:ext cx="15112012" cy="324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541"/>
              </a:lnSpc>
            </a:pPr>
            <a:r>
              <a:rPr lang="en-US" sz="4672">
                <a:solidFill>
                  <a:srgbClr val="000000"/>
                </a:solidFill>
                <a:latin typeface="DM Sans"/>
              </a:rPr>
              <a:t>A double linked list is a type of linked list where each node contains not only a reference to the next node in the sequence (as in a singly linked list) but also a reference to the previous node.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65429"/>
            <a:ext cx="14751158" cy="1292581"/>
            <a:chOff x="0" y="0"/>
            <a:chExt cx="3083643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3643" cy="270206"/>
            </a:xfrm>
            <a:custGeom>
              <a:avLst/>
              <a:gdLst/>
              <a:ahLst/>
              <a:cxnLst/>
              <a:rect r="r" b="b" t="t" l="l"/>
              <a:pathLst>
                <a:path h="270206" w="3083643">
                  <a:moveTo>
                    <a:pt x="49334" y="0"/>
                  </a:moveTo>
                  <a:lnTo>
                    <a:pt x="3034308" y="0"/>
                  </a:lnTo>
                  <a:cubicBezTo>
                    <a:pt x="3047392" y="0"/>
                    <a:pt x="3059941" y="5198"/>
                    <a:pt x="3069193" y="14450"/>
                  </a:cubicBezTo>
                  <a:cubicBezTo>
                    <a:pt x="3078445" y="23702"/>
                    <a:pt x="3083643" y="36250"/>
                    <a:pt x="3083643" y="49334"/>
                  </a:cubicBezTo>
                  <a:lnTo>
                    <a:pt x="3083643" y="220872"/>
                  </a:lnTo>
                  <a:cubicBezTo>
                    <a:pt x="3083643" y="233956"/>
                    <a:pt x="3078445" y="246505"/>
                    <a:pt x="3069193" y="255757"/>
                  </a:cubicBezTo>
                  <a:cubicBezTo>
                    <a:pt x="3059941" y="265009"/>
                    <a:pt x="3047392" y="270206"/>
                    <a:pt x="3034308" y="270206"/>
                  </a:cubicBezTo>
                  <a:lnTo>
                    <a:pt x="49334" y="270206"/>
                  </a:lnTo>
                  <a:cubicBezTo>
                    <a:pt x="36250" y="270206"/>
                    <a:pt x="23702" y="265009"/>
                    <a:pt x="14450" y="255757"/>
                  </a:cubicBezTo>
                  <a:cubicBezTo>
                    <a:pt x="5198" y="246505"/>
                    <a:pt x="0" y="233956"/>
                    <a:pt x="0" y="220872"/>
                  </a:cubicBezTo>
                  <a:lnTo>
                    <a:pt x="0" y="49334"/>
                  </a:lnTo>
                  <a:cubicBezTo>
                    <a:pt x="0" y="36250"/>
                    <a:pt x="5198" y="23702"/>
                    <a:pt x="14450" y="14450"/>
                  </a:cubicBezTo>
                  <a:cubicBezTo>
                    <a:pt x="23702" y="5198"/>
                    <a:pt x="36250" y="0"/>
                    <a:pt x="49334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83643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Operations :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07287"/>
            <a:ext cx="14751158" cy="74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156686" indent="-578343" lvl="1">
              <a:lnSpc>
                <a:spcPts val="7500"/>
              </a:lnSpc>
              <a:buFont typeface="Arial"/>
              <a:buChar char="•"/>
            </a:pPr>
            <a:r>
              <a:rPr lang="en-US" sz="5357">
                <a:solidFill>
                  <a:srgbClr val="000000"/>
                </a:solidFill>
                <a:latin typeface="DM Sans"/>
              </a:rPr>
              <a:t>Insertion: Adding a node at the beginning, end, or in the middle.</a:t>
            </a:r>
          </a:p>
          <a:p>
            <a:pPr marL="1156686" indent="-578343" lvl="1">
              <a:lnSpc>
                <a:spcPts val="7500"/>
              </a:lnSpc>
              <a:buFont typeface="Arial"/>
              <a:buChar char="•"/>
            </a:pPr>
            <a:r>
              <a:rPr lang="en-US" sz="5357">
                <a:solidFill>
                  <a:srgbClr val="000000"/>
                </a:solidFill>
                <a:latin typeface="DM Sans"/>
              </a:rPr>
              <a:t>Deletion: Removing a node from the list.</a:t>
            </a:r>
          </a:p>
          <a:p>
            <a:pPr marL="1156686" indent="-578343" lvl="1">
              <a:lnSpc>
                <a:spcPts val="7500"/>
              </a:lnSpc>
              <a:buFont typeface="Arial"/>
              <a:buChar char="•"/>
            </a:pPr>
            <a:r>
              <a:rPr lang="en-US" sz="5357">
                <a:solidFill>
                  <a:srgbClr val="000000"/>
                </a:solidFill>
                <a:latin typeface="DM Sans"/>
              </a:rPr>
              <a:t>Traversal: Moving through the list in both forward and backward directions.</a:t>
            </a:r>
          </a:p>
          <a:p>
            <a:pPr marL="1156686" indent="-578343" lvl="1">
              <a:lnSpc>
                <a:spcPts val="7500"/>
              </a:lnSpc>
              <a:buFont typeface="Arial"/>
              <a:buChar char="•"/>
            </a:pPr>
            <a:r>
              <a:rPr lang="en-US" sz="5357">
                <a:solidFill>
                  <a:srgbClr val="000000"/>
                </a:solidFill>
                <a:latin typeface="DM Sans"/>
              </a:rPr>
              <a:t>Search: Finding a specific element/node within the list.</a:t>
            </a:r>
          </a:p>
          <a:p>
            <a:pPr>
              <a:lnSpc>
                <a:spcPts val="75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064" y="0"/>
            <a:ext cx="14751158" cy="1292581"/>
            <a:chOff x="0" y="0"/>
            <a:chExt cx="3083643" cy="27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83643" cy="270206"/>
            </a:xfrm>
            <a:custGeom>
              <a:avLst/>
              <a:gdLst/>
              <a:ahLst/>
              <a:cxnLst/>
              <a:rect r="r" b="b" t="t" l="l"/>
              <a:pathLst>
                <a:path h="270206" w="3083643">
                  <a:moveTo>
                    <a:pt x="49334" y="0"/>
                  </a:moveTo>
                  <a:lnTo>
                    <a:pt x="3034308" y="0"/>
                  </a:lnTo>
                  <a:cubicBezTo>
                    <a:pt x="3047392" y="0"/>
                    <a:pt x="3059941" y="5198"/>
                    <a:pt x="3069193" y="14450"/>
                  </a:cubicBezTo>
                  <a:cubicBezTo>
                    <a:pt x="3078445" y="23702"/>
                    <a:pt x="3083643" y="36250"/>
                    <a:pt x="3083643" y="49334"/>
                  </a:cubicBezTo>
                  <a:lnTo>
                    <a:pt x="3083643" y="220872"/>
                  </a:lnTo>
                  <a:cubicBezTo>
                    <a:pt x="3083643" y="233956"/>
                    <a:pt x="3078445" y="246505"/>
                    <a:pt x="3069193" y="255757"/>
                  </a:cubicBezTo>
                  <a:cubicBezTo>
                    <a:pt x="3059941" y="265009"/>
                    <a:pt x="3047392" y="270206"/>
                    <a:pt x="3034308" y="270206"/>
                  </a:cubicBezTo>
                  <a:lnTo>
                    <a:pt x="49334" y="270206"/>
                  </a:lnTo>
                  <a:cubicBezTo>
                    <a:pt x="36250" y="270206"/>
                    <a:pt x="23702" y="265009"/>
                    <a:pt x="14450" y="255757"/>
                  </a:cubicBezTo>
                  <a:cubicBezTo>
                    <a:pt x="5198" y="246505"/>
                    <a:pt x="0" y="233956"/>
                    <a:pt x="0" y="220872"/>
                  </a:cubicBezTo>
                  <a:lnTo>
                    <a:pt x="0" y="49334"/>
                  </a:lnTo>
                  <a:cubicBezTo>
                    <a:pt x="0" y="36250"/>
                    <a:pt x="5198" y="23702"/>
                    <a:pt x="14450" y="14450"/>
                  </a:cubicBezTo>
                  <a:cubicBezTo>
                    <a:pt x="23702" y="5198"/>
                    <a:pt x="36250" y="0"/>
                    <a:pt x="49334" y="0"/>
                  </a:cubicBezTo>
                  <a:close/>
                </a:path>
              </a:pathLst>
            </a:custGeom>
            <a:solidFill>
              <a:srgbClr val="F4592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083643" cy="3940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959"/>
                </a:lnSpc>
              </a:pPr>
              <a:r>
                <a:rPr lang="en-US" sz="6399">
                  <a:solidFill>
                    <a:srgbClr val="FFFFFF"/>
                  </a:solidFill>
                  <a:latin typeface="DM Sans Bold"/>
                </a:rPr>
                <a:t>CODE EXAMPLE :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26266" y="1292581"/>
            <a:ext cx="8917734" cy="8917734"/>
          </a:xfrm>
          <a:custGeom>
            <a:avLst/>
            <a:gdLst/>
            <a:ahLst/>
            <a:cxnLst/>
            <a:rect r="r" b="b" t="t" l="l"/>
            <a:pathLst>
              <a:path h="8917734" w="8917734">
                <a:moveTo>
                  <a:pt x="0" y="0"/>
                </a:moveTo>
                <a:lnTo>
                  <a:pt x="8917734" y="0"/>
                </a:lnTo>
                <a:lnTo>
                  <a:pt x="8917734" y="8917734"/>
                </a:lnTo>
                <a:lnTo>
                  <a:pt x="0" y="8917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29875" y="1292581"/>
            <a:ext cx="7429425" cy="8917734"/>
          </a:xfrm>
          <a:custGeom>
            <a:avLst/>
            <a:gdLst/>
            <a:ahLst/>
            <a:cxnLst/>
            <a:rect r="r" b="b" t="t" l="l"/>
            <a:pathLst>
              <a:path h="8917734" w="7429425">
                <a:moveTo>
                  <a:pt x="0" y="0"/>
                </a:moveTo>
                <a:lnTo>
                  <a:pt x="7429425" y="0"/>
                </a:lnTo>
                <a:lnTo>
                  <a:pt x="7429425" y="8917734"/>
                </a:lnTo>
                <a:lnTo>
                  <a:pt x="0" y="891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07" r="-1434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DAF1TL1eRYA</dc:identifier>
  <dcterms:modified xsi:type="dcterms:W3CDTF">2011-08-01T06:04:30Z</dcterms:modified>
  <cp:revision>1</cp:revision>
  <dc:title>Black and White Green Blue Basic Flow Chart Brainstorm Presentation</dc:title>
</cp:coreProperties>
</file>